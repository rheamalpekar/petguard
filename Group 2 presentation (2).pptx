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Noto Sans"/>
      <p:regular r:id="rId37"/>
      <p:bold r:id="rId38"/>
      <p:italic r:id="rId39"/>
      <p:boldItalic r:id="rId40"/>
    </p:embeddedFont>
    <p:embeddedFont>
      <p:font typeface="Urbanist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-boldItalic.fntdata"/><Relationship Id="rId20" Type="http://schemas.openxmlformats.org/officeDocument/2006/relationships/slide" Target="slides/slide14.xml"/><Relationship Id="rId42" Type="http://schemas.openxmlformats.org/officeDocument/2006/relationships/font" Target="fonts/UrbanistMedium-bold.fntdata"/><Relationship Id="rId41" Type="http://schemas.openxmlformats.org/officeDocument/2006/relationships/font" Target="fonts/UrbanistMedium-regular.fntdata"/><Relationship Id="rId22" Type="http://schemas.openxmlformats.org/officeDocument/2006/relationships/slide" Target="slides/slide16.xml"/><Relationship Id="rId44" Type="http://schemas.openxmlformats.org/officeDocument/2006/relationships/font" Target="fonts/UrbanistMedium-boldItalic.fntdata"/><Relationship Id="rId21" Type="http://schemas.openxmlformats.org/officeDocument/2006/relationships/slide" Target="slides/slide15.xml"/><Relationship Id="rId43" Type="http://schemas.openxmlformats.org/officeDocument/2006/relationships/font" Target="fonts/UrbanistMedium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otoSans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NotoSans-italic.fntdata"/><Relationship Id="rId16" Type="http://schemas.openxmlformats.org/officeDocument/2006/relationships/slide" Target="slides/slide10.xml"/><Relationship Id="rId38" Type="http://schemas.openxmlformats.org/officeDocument/2006/relationships/font" Target="fonts/Noto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78d6d3ab6_6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978d6d3ab6_6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78d6d3ab6_6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978d6d3ab6_6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78d6d3ab6_6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978d6d3ab6_6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78d6d3ab6_6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978d6d3ab6_6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78d6d3ab6_6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978d6d3ab6_6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8d6d3ab6_6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978d6d3ab6_6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8d6d3ab6_6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978d6d3ab6_6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8d6d3ab6_6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978d6d3ab6_6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78d6d3ab6_6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978d6d3ab6_6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78d6d3ab6_6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978d6d3ab6_6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78d6d3ab6_6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978d6d3ab6_6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78d6d3ab6_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978d6d3ab6_6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78d6d3ab6_6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978d6d3ab6_6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78d6d3ab6_6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978d6d3ab6_6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78d6d3ab6_6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978d6d3ab6_6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78d6d3ab6_6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978d6d3ab6_6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78d6d3ab6_6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978d6d3ab6_6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78d6d3ab6_6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978d6d3ab6_6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78d6d3ab6_6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978d6d3ab6_6_2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78d6d3ab6_6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978d6d3ab6_6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78d6d3ab6_6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978d6d3ab6_6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78d6d3ab6_6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978d6d3ab6_6_2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78d6d3ab6_6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978d6d3ab6_6_2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78d6d3ab6_6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978d6d3ab6_6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78d6d3ab6_6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978d6d3ab6_6_2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78d6d3ab6_6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978d6d3ab6_6_2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78d6d3ab6_6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978d6d3ab6_6_3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78e06743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978e06743a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78e06743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3978e06743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78d6d3ab6_6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978d6d3ab6_6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77" name="Google Shape;77;p17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78" name="Google Shape;78;p17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9.jpg"/><Relationship Id="rId6" Type="http://schemas.openxmlformats.org/officeDocument/2006/relationships/image" Target="../media/image9.jpg"/><Relationship Id="rId7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jpg"/><Relationship Id="rId6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youtu.be/oRksk3ox13Y?si=4SDLCr1mBIAWf0G4" TargetMode="External"/><Relationship Id="rId6" Type="http://schemas.openxmlformats.org/officeDocument/2006/relationships/hyperlink" Target="https://github.com/rheamalpekar/PetGuard.git" TargetMode="External"/><Relationship Id="rId7" Type="http://schemas.openxmlformats.org/officeDocument/2006/relationships/hyperlink" Target="https://expo.dev/accounts/spandammahat00/projects/PetGuardTeamProject/builds/82171c81-bd1a-444f-8e6f-b0a5dc8681e6" TargetMode="External"/><Relationship Id="rId8" Type="http://schemas.openxmlformats.org/officeDocument/2006/relationships/hyperlink" Target="https://drive.google.com/file/d/12ilVOkJv6e2lEqRnMSZFREdrZMEfPMhg/view?usp=drivesdk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 rot="10800000">
            <a:off x="6591141" y="472564"/>
            <a:ext cx="2510009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7399638" y="-3"/>
            <a:ext cx="1744366" cy="13796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/>
          <p:nvPr/>
        </p:nvSpPr>
        <p:spPr>
          <a:xfrm flipH="1" rot="10800000">
            <a:off x="7399638" y="3774019"/>
            <a:ext cx="1744366" cy="13796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1475240" y="1708802"/>
            <a:ext cx="619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Petguard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1718150" y="3127825"/>
            <a:ext cx="5520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By: </a:t>
            </a: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Steven Fitzgerald</a:t>
            </a:r>
            <a:r>
              <a:rPr b="1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Rhea Malpekar, Venkata Pavan Ganesh Pallothu, Kyle Henry, Spandan Mahat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2643200" y="2453000"/>
            <a:ext cx="4352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Emergency Care at the Tap of a Paw</a:t>
            </a:r>
            <a:endParaRPr b="0" i="0" sz="1800" u="none" cap="none" strike="noStrike">
              <a:solidFill>
                <a:schemeClr val="lt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514350" y="1015425"/>
            <a:ext cx="7750800" cy="4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PetGuard is a mobile application built using React Native and Firebase.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It supports reporting of animal-related emergencies and non-emergency service requests.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main idea is to provide a simple and fast way for users to submit service reports with location and photo evidence as well as tracking the request status. </a:t>
            </a:r>
            <a:endParaRPr sz="1600"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14350" y="1015425"/>
            <a:ext cx="7750800" cy="3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Lack of a comprehensive app that does everything pet care related.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Competitors: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myVCA (can’t sign in without special access)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Animal Help Now (Auto location detection and other features, but old ui. For wild animals)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PawBoost (only for lost/found animals)</a:t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What PetGuard tries to achieve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514350" y="1015425"/>
            <a:ext cx="7750800" cy="23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app tries to make animal emergency and service reporting fast, simple, and reliable on mobile devices.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Lets users sign in, report an animal emergency/non-emergency, add location and photos, submit the request, and track it after submission.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Features like emergency detection, offline saving, and later sync.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Anonymous guest user reporting.</a:t>
            </a:r>
            <a:endParaRPr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Splash screen/Register screen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514350" y="669985"/>
            <a:ext cx="7750800" cy="6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Built the splash screen as the app entry screen after launch.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Added logo, title, tagline, and loading spinner animations using React Native Animated.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Register screen asks for full name, email, phone number, password, confirm password, and acceptance of terms and conditions.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Used createUserWithEmailAndPassword() in AuthService to create the auth account.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Stored fields like uid, email, fullName, phoneNumber, and timestamps in the users collection.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Splash screen/Register screen</a:t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9050" y="989618"/>
            <a:ext cx="189914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2420" y="927647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9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Login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514350" y="1015425"/>
            <a:ext cx="7750800" cy="5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Used signInWithEmailAndPassword() inside AuthService for normal login.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Cannot access any of the screens unless logged in successfully.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Guest login is handled through AuthContext.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Added input validation on the screen before any backend call.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On web, used local persistence if Remember Me is checked.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On web, used session persistence if Remember Me is not checked.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On mobile, used persistent auth storage for remembered sessions and in-memory auth when not remembered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0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Login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2798" y="927647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1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Home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514350" y="1015425"/>
            <a:ext cx="7750800" cy="5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Emergency options: Sick Animal, Car Accident, and Animal Cruelty.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Non-emergency options: Vaccination, Adopt / Surrender, and Spay / Neuter.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 SafeAreaView and ScrollView as the main layout so the full dashboard fits on mobile screens.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Pulled the current user from AuthContext and Firebase auth to know who is signed in.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Showed a personalized welcome message using the user’s name, or Guest User for anonymous login.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Loaded profile data inside useEffect() when the screen mounts or when the user changes.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2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Home Screen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4931" y="876650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3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Profile screen/Navigation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14350" y="1015425"/>
            <a:ext cx="7750800" cy="5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 profile screen includes three main tabs: Profile, History, and Settings.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Loads user’s name from the firebase and welcomes them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Checked whether the current user is anonymous with user?.isAnonymous</a:t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Three tabs: Profile, History and Settings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Calls getUserProfile(uid) to get user data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Used cached profile data as a fallback if live profile loading fails.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Used a dedicated loadHistory() function to fetch the user’s requests.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Called deleteUserAccount() from ApiService after final delete confirmation.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184150" lvl="0" marL="28575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4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4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Profile screen/Navigation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837" y="834021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7344" y="834021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7519" y="834021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5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5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514350" y="1015425"/>
            <a:ext cx="7750800" cy="5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emergency home screen includes the main emergency entry points: Sick Animal, Car Accident, and Animal Cruelty.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That detection logic combines emergency type and description into one text input and checks for known scenario keywords.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system compares matching scenarios by severity priority and chooses the highest-risk match.</a:t>
            </a:r>
            <a:endParaRPr sz="1600"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6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6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3812" y="843280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7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7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Non-emergency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514350" y="1015425"/>
            <a:ext cx="77508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service overview screens are Vaccination, Adopt / Surrender, and Spay / Neuter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booking screen includes owner name, pet name, phone number, preferred date, optional notes, and optional GPS location.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chemeClr val="lt1"/>
                </a:solidFill>
              </a:rPr>
              <a:t>The booking screen reads the incoming service name using useLocalSearchParams().</a:t>
            </a:r>
            <a:endParaRPr sz="1600"/>
          </a:p>
          <a:p>
            <a:pPr indent="-2286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8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8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Non-emergency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9251" y="765387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9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Info form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514350" y="1015425"/>
            <a:ext cx="77508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info form screen is the main report submission screen after the emergency report step.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Requires at least one photo before submission.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real-time validation for user input.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Reads emergency data from route params using useLocalSearchParams().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Uses a submitLockRef to prevent duplicate submissions if the user taps submit multiple times.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It compresses selected images with expo-image-manipulator before storing them in local component state.</a:t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0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0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0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Info form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998" y="707813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2130" y="707813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1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1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1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Confirmation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1"/>
          <p:cNvSpPr txBox="1"/>
          <p:nvPr/>
        </p:nvSpPr>
        <p:spPr>
          <a:xfrm>
            <a:off x="514350" y="1015425"/>
            <a:ext cx="77508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confirmation screen shows the final request after the info form is submitted.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the request ID, request tracking section, contact details, location, and buttons for next actions.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Uses the formId to decide whether the request is: </a:t>
            </a:r>
            <a:endParaRPr sz="1600"/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a normal submitted server request</a:t>
            </a:r>
            <a:endParaRPr sz="1600">
              <a:solidFill>
                <a:srgbClr val="FFFFFF"/>
              </a:solidFill>
            </a:endParaRPr>
          </a:p>
          <a:p>
            <a:pPr indent="-330200" lvl="1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i="0" lang="en" sz="1600" u="none" cap="none" strike="noStrike">
                <a:solidFill>
                  <a:srgbClr val="FFFFFF"/>
                </a:solidFill>
              </a:rPr>
              <a:t>an offline queued request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Uses NetInfo.addEventListener() and NetInfo.fetch() to track whether the device is online.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Calls getInfoFormDataById(formId) from ApiService for retrieving data to display.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Subscribes to active request count using subscribeToActiveReports(user.uid, setActiveCount)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2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2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Confirmation screen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8541" y="798381"/>
            <a:ext cx="1899138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3922" y="798381"/>
            <a:ext cx="1899138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Firebase (backend)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 txBox="1"/>
          <p:nvPr/>
        </p:nvSpPr>
        <p:spPr>
          <a:xfrm>
            <a:off x="514350" y="1015425"/>
            <a:ext cx="7750800" cy="26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backend side is built around Firebase.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Firebase Authentication for login, registration, guest access, and session handling.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Firestore for storing user profiles and submitted info forms.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Firebase Storage for uploaded report photos.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Main backend-based files are: firebase.ts, AuthService.ts, ApiService.ts, and RateLimiter.ts.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Includes offline queue handling and profile caching with AsyncStorage.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4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4"/>
          <p:cNvSpPr/>
          <p:nvPr/>
        </p:nvSpPr>
        <p:spPr>
          <a:xfrm flipH="1" rot="10800000">
            <a:off x="7626402" y="4083863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Firebase/backend (continued)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514350" y="1015425"/>
            <a:ext cx="7750800" cy="24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AuthService.ts: </a:t>
            </a:r>
            <a:r>
              <a:rPr b="1" i="0" lang="en" sz="1400" u="none" cap="none" strike="noStrike">
                <a:solidFill>
                  <a:srgbClr val="D8D8D8"/>
                </a:solidFill>
              </a:rPr>
              <a:t>setDurablePersistence(), signInAsGuest(), register(), login()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ApiService.ts: </a:t>
            </a:r>
            <a:r>
              <a:rPr b="1" i="0" lang="en" sz="1400" u="none" cap="none" strike="noStrike">
                <a:solidFill>
                  <a:srgbClr val="D8D8D8"/>
                </a:solidFill>
              </a:rPr>
              <a:t>userProfileCacheKey(), loadQueuedInfoForms(), saveQueuedInfoForms(), enqueueInfoForm(), submitInfoForm(), addEmergencyReport(), getInfoFormDataById(), uploadImage(), syncQueuedInfoForms(), logoutUser(), subscribeToActiveReports(), getUserProfile(), loadCachedUserProfile(), cacheUserProfile(), clearCachedUserProfile(), getUserProfileWithCache(), updateUserProfile(), getUserRequests(), deleteUserAccount()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5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5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5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5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5"/>
          <p:cNvSpPr txBox="1"/>
          <p:nvPr/>
        </p:nvSpPr>
        <p:spPr>
          <a:xfrm>
            <a:off x="514350" y="1015425"/>
            <a:ext cx="7750800" cy="3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The main focus of testing in this project was unit testing but integration and performance test were also performed.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Testing was done using Jest as the test runner and React Native Testing Library for rendering screens and simulating user actions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 From the latest test run :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16 test suites passed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127 individual test cases passed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0 failed </a:t>
            </a:r>
            <a:endParaRPr/>
          </a:p>
          <a:p>
            <a:pPr indent="0" lvl="3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Time: 9.866 s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The coverage summary is: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Statements: 92.08%  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Branches: 80.58%  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Functions: 86.59%   </a:t>
            </a:r>
            <a:endParaRPr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</a:rPr>
              <a:t>	Lines: 93.93%</a:t>
            </a:r>
            <a:endParaRPr i="0" sz="12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6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6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Debugging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6"/>
          <p:cNvSpPr txBox="1"/>
          <p:nvPr/>
        </p:nvSpPr>
        <p:spPr>
          <a:xfrm>
            <a:off x="514350" y="1015425"/>
            <a:ext cx="7750800" cy="3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account info forms were not being submitted. 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debugging, the issue was that the user id for guest accounts were not being generated properly and the accounts couldn’t be tracked.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Duplicate submission because of old cache from the offline forms not yet deleted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Fixed by controlling when sync runs and ensuring queue is processed in a stable way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 APK crashes</a:t>
            </a:r>
            <a:endParaRPr sz="1600"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Fixed by adding google maps api key on .env variable and also enabling sha-1 fingerprint so it would have added safety. </a:t>
            </a:r>
            <a:endParaRPr sz="1600"/>
          </a:p>
          <a:p>
            <a:pPr indent="0" lvl="0" marL="1270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7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7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7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Debugging(continued)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7"/>
          <p:cNvSpPr txBox="1"/>
          <p:nvPr/>
        </p:nvSpPr>
        <p:spPr>
          <a:xfrm>
            <a:off x="514350" y="1015425"/>
            <a:ext cx="7750800" cy="3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File structure change among team members triggered unpredicted errors occasionally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Submission would fail silently or with crashes 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Fixed by allowing offline submissions, updating data models, integrating proper 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transfer between emergency/nonemergency files and info form screen, etc.</a:t>
            </a:r>
            <a:endParaRPr sz="1600"/>
          </a:p>
          <a:p>
            <a:pPr indent="-3429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general approach used was: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 the issue at hand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logs to track where the flow breaks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Isolate the problem (UI vs logic vs backend/firebase) </a:t>
            </a:r>
            <a:endParaRPr sz="1600"/>
          </a:p>
          <a:p>
            <a:pPr indent="-342900" lvl="1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Char char="●"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Fix the issue </a:t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8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8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8"/>
          <p:cNvSpPr txBox="1"/>
          <p:nvPr/>
        </p:nvSpPr>
        <p:spPr>
          <a:xfrm>
            <a:off x="514350" y="152050"/>
            <a:ext cx="752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8"/>
          <p:cNvSpPr txBox="1"/>
          <p:nvPr/>
        </p:nvSpPr>
        <p:spPr>
          <a:xfrm>
            <a:off x="514350" y="629650"/>
            <a:ext cx="7750800" cy="4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Configure project settings in app.config.ts (including package name and Google Maps configuration)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Set up environment variables using EAS environment variables and configure SHA-1 fingerprint in Google Cloud Console to restrict API usage to this app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Install dependencies and ensure the project builds locally without errors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Log in to Expo using EAS CLI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Run “npx expo prebuild” to generate native Android project files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Configure eas.json build profiles (preview used for internal APK distribution)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Trigger build using: “npx eas-cli@latest build -p android --profile preview”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Wait for the cloud build process ( around 5-10 minutes) to complete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Download the generated APK from the EAS build link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Install and test the APK on a physical Android device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200" u="none" cap="none" strike="noStrike">
                <a:solidFill>
                  <a:srgbClr val="FFFFFF"/>
                </a:solidFill>
              </a:rPr>
              <a:t>The deployed APK was verified by testing all the flows such as authentication, user profile access, form submission, emergency detection, offline handling and request confirmation.</a:t>
            </a:r>
            <a:endParaRPr i="0" sz="12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9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 txBox="1"/>
          <p:nvPr/>
        </p:nvSpPr>
        <p:spPr>
          <a:xfrm>
            <a:off x="514350" y="152050"/>
            <a:ext cx="7529400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9"/>
          <p:cNvSpPr txBox="1"/>
          <p:nvPr/>
        </p:nvSpPr>
        <p:spPr>
          <a:xfrm>
            <a:off x="514350" y="1015425"/>
            <a:ext cx="83208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project successfully meets the requirements as specified by the requirement.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testing focused on ensuring quality coverage to reach above the 80% requirement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Debugging helped fix the major as well as some minor failure points.The app can be built and run as an APK successfully. </a:t>
            </a:r>
            <a:endParaRPr/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i="0" lang="en" sz="1600" u="none" cap="none" strike="noStrike">
                <a:solidFill>
                  <a:srgbClr val="FFFFFF"/>
                </a:solidFill>
              </a:rPr>
              <a:t>The system is very stable and working as expected in testing conditions including development as well as APK.</a:t>
            </a:r>
            <a:endParaRPr i="0" sz="16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0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0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0"/>
          <p:cNvSpPr txBox="1"/>
          <p:nvPr/>
        </p:nvSpPr>
        <p:spPr>
          <a:xfrm>
            <a:off x="514350" y="152050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82EAFC"/>
                </a:solidFill>
              </a:rPr>
              <a:t>Links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0"/>
          <p:cNvSpPr txBox="1"/>
          <p:nvPr/>
        </p:nvSpPr>
        <p:spPr>
          <a:xfrm>
            <a:off x="514350" y="1015425"/>
            <a:ext cx="8320800" cy="26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Youtube (Demo video):</a:t>
            </a:r>
            <a:r>
              <a:rPr lang="en" sz="1600"/>
              <a:t> </a:t>
            </a:r>
            <a:r>
              <a:rPr lang="en" sz="1600" u="sng">
                <a:solidFill>
                  <a:srgbClr val="56A3F1"/>
                </a:solidFill>
                <a:highlight>
                  <a:srgbClr val="181A1B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https://youtu.be/oRksk3ox13Y?si=4SDLCr1mBIAWf0G4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Github: </a:t>
            </a:r>
            <a:r>
              <a:rPr lang="en" sz="1600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https://github.com/rheamalpekar/PetGuard.git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Expo download link(temporary only, expires): </a:t>
            </a:r>
            <a:r>
              <a:rPr lang="en" sz="1600" u="sng">
                <a:solidFill>
                  <a:schemeClr val="lt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https://expo.dev/accounts/spandammahat00/projects/PetGuardTeamProject/builds/82171c81-bd1a-444f-8e6f-b0a5dc8681e6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Google drive(permanent apk): </a:t>
            </a:r>
            <a:r>
              <a:rPr lang="en" sz="1600" u="sng">
                <a:solidFill>
                  <a:srgbClr val="56A3F1"/>
                </a:solidFill>
                <a:highlight>
                  <a:srgbClr val="181A1B"/>
                </a:highlight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https://drive.google.com/file/d/12ilVOkJv6e2lEqRnMSZFREdrZMEfPMhg/view?usp=drivesdk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/>
          <p:nvPr/>
        </p:nvSpPr>
        <p:spPr>
          <a:xfrm rot="10800000">
            <a:off x="7064564" y="472564"/>
            <a:ext cx="2050861" cy="4198361"/>
          </a:xfrm>
          <a:custGeom>
            <a:rect b="b" l="l" r="r" t="t"/>
            <a:pathLst>
              <a:path extrusionOk="0"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1"/>
          <p:cNvSpPr/>
          <p:nvPr/>
        </p:nvSpPr>
        <p:spPr>
          <a:xfrm>
            <a:off x="7599825" y="1520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1"/>
          <p:cNvSpPr/>
          <p:nvPr/>
        </p:nvSpPr>
        <p:spPr>
          <a:xfrm flipH="1" rot="10800000">
            <a:off x="7599825" y="4128990"/>
            <a:ext cx="1517598" cy="1000235"/>
          </a:xfrm>
          <a:custGeom>
            <a:rect b="b" l="l" r="r" t="t"/>
            <a:pathLst>
              <a:path extrusionOk="0"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1"/>
          <p:cNvSpPr txBox="1"/>
          <p:nvPr/>
        </p:nvSpPr>
        <p:spPr>
          <a:xfrm>
            <a:off x="514350" y="152050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82EAFC"/>
                </a:solidFill>
              </a:rPr>
              <a:t>QR code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1"/>
          <p:cNvSpPr txBox="1"/>
          <p:nvPr/>
        </p:nvSpPr>
        <p:spPr>
          <a:xfrm>
            <a:off x="514350" y="1015425"/>
            <a:ext cx="832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</p:txBody>
      </p:sp>
      <p:pic>
        <p:nvPicPr>
          <p:cNvPr id="380" name="Google Shape;38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1050" y="1184225"/>
            <a:ext cx="3720546" cy="35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A36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/>
          <p:nvPr/>
        </p:nvSpPr>
        <p:spPr>
          <a:xfrm>
            <a:off x="1475240" y="2294707"/>
            <a:ext cx="619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82EAFC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